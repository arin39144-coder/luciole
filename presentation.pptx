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Nunito Light" pitchFamily="2" charset="0"/>
      <p:regular r:id="rId20"/>
      <p:italic r:id="rId21"/>
    </p:embeddedFont>
    <p:embeddedFont>
      <p:font typeface="Nunito SemiBold" pitchFamily="2" charset="0"/>
      <p:regular r:id="rId22"/>
      <p:bold r:id="rId23"/>
      <p:boldItalic r:id="rId24"/>
    </p:embeddedFont>
    <p:embeddedFont>
      <p:font typeface="PT Sans" panose="020B0503020203020204" pitchFamily="34" charset="0"/>
      <p:regular r:id="rId25"/>
      <p:bold r:id="rId26"/>
      <p:italic r:id="rId27"/>
      <p:boldItalic r:id="rId28"/>
    </p:embeddedFont>
    <p:embeddedFont>
      <p:font typeface="PT Sans Bold" panose="020B0703020203020204" charset="0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2134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18" Type="http://schemas.openxmlformats.org/officeDocument/2006/relationships/image" Target="../media/image3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sv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577" y="793254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Luciole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457623"/>
            <a:ext cx="4667845" cy="242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Compagnon numérique pour un usage conscient de l'IA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23577" y="4110856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✦ Prenez un instant de réflexion avant chaque session IA</a:t>
            </a:r>
            <a:endParaRPr lang="en-US" sz="115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2CCB573-B098-43EE-B7A5-3EEBCF56C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418" y="586085"/>
            <a:ext cx="3082738" cy="3082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69478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Une utilisation massive, mais peu consciente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573857"/>
            <a:ext cx="2259137" cy="1834381"/>
          </a:xfrm>
          <a:prstGeom prst="roundRect">
            <a:avLst>
              <a:gd name="adj" fmla="val 12234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7437" y="1737717"/>
            <a:ext cx="193141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Des IA partout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87437" y="2047429"/>
            <a:ext cx="1931417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ChatGPT, Claude, Gemini, Copilot, Perplexity, DeepSeek… Les outils se multiplient, et leur usage devient automatique.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32286" y="1573857"/>
            <a:ext cx="2259137" cy="1834381"/>
          </a:xfrm>
          <a:prstGeom prst="roundRect">
            <a:avLst>
              <a:gd name="adj" fmla="val 12234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96146" y="1737717"/>
            <a:ext cx="193141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Peu de recul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96146" y="2047429"/>
            <a:ext cx="193141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 plupart des utilisateurs ne questionnent pas leur </a:t>
            </a:r>
            <a:r>
              <a:rPr lang="en-US" sz="11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besoin réel</a:t>
            </a: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avant de se tourner vers l'IA.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3577" y="3557811"/>
            <a:ext cx="4667845" cy="111621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7437" y="3721671"/>
            <a:ext cx="434012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Aucune donnée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87437" y="4031382"/>
            <a:ext cx="434012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Il n'existe aujourd'hui </a:t>
            </a:r>
            <a:r>
              <a:rPr lang="en-US" sz="11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aucun outil</a:t>
            </a: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pour suivre et analyser ses propres habitudes d'utilisation.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9917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Luciole : un moment de réflexion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38399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Avant chaque accès à une IA, Luciole vous invite à marquer une pause et à interroger votre intention.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646039"/>
            <a:ext cx="374005" cy="3740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2207047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Overlay de réflexion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577" y="2516758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Une question posée avant chaque session IA pour activer la conscience.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4860" y="1646039"/>
            <a:ext cx="374005" cy="3740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84860" y="2207047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Statistiques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84860" y="2516758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Suivi du temps, des sessions et des motifs d'utilisation.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6143" y="1646039"/>
            <a:ext cx="374005" cy="3740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6143" y="2207047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Score de réflexion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6143" y="2516758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score de 0 à 100 pour mesurer votre usage réfléchi.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77" y="3294757"/>
            <a:ext cx="374005" cy="3740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3577" y="3855765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Gamification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23577" y="4165476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Défis quotidiens et badges pour progresser vers un usage maîtrisé.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84860" y="3294757"/>
            <a:ext cx="374005" cy="37400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84860" y="3855765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Conseils personnalisés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284860" y="4165476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 recommandations adaptées à vos habitudes d'utilisation.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370"/>
            <a:ext cx="8096845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L'overlay — Le cœur de Luciole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373535"/>
            <a:ext cx="5159127" cy="290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3932" y="1007864"/>
            <a:ext cx="2641178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Avant chaque utilisation d'une IA, Luciole affiche un overlay avec </a:t>
            </a: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deux questions essentielles</a:t>
            </a: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: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3932" y="1471538"/>
            <a:ext cx="2641178" cy="12614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76888" y="1607344"/>
            <a:ext cx="2312417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1️⃣</a:t>
            </a: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Pourquoi utilisez-vous l'IA maintenant ?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6888" y="2068339"/>
            <a:ext cx="2312417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Études · Travail · Programmation · Recherche · Créativité · Divertissement · Autre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3932" y="2831753"/>
            <a:ext cx="2641178" cy="90889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76888" y="2967558"/>
            <a:ext cx="2312417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2️⃣</a:t>
            </a: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Cette tâche nécessite-t-elle vraiment une IA ?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176888" y="3428554"/>
            <a:ext cx="2312417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Oui · Non · Partiellement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5983932" y="3851746"/>
            <a:ext cx="2641178" cy="767283"/>
          </a:xfrm>
          <a:prstGeom prst="roundRect">
            <a:avLst>
              <a:gd name="adj" fmla="val 23765"/>
            </a:avLst>
          </a:prstGeom>
          <a:solidFill>
            <a:srgbClr val="785507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5451" y="4030638"/>
            <a:ext cx="151879" cy="121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78848" y="3970958"/>
            <a:ext cx="2124745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L'utilisateur peut </a:t>
            </a: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continuer</a:t>
            </a: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 toute conscience ou </a:t>
            </a: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retourner en arrière</a:t>
            </a: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la décision lui appartient.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4578"/>
            <a:ext cx="8096845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Système de score &amp; architecture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3577" y="1094482"/>
            <a:ext cx="855404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 </a:t>
            </a: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score de réflexion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(0–100) est calculé selon 5 critères : fréquence, durée, réflexion, objectifs et évolution.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3577" y="1449437"/>
            <a:ext cx="809625" cy="483394"/>
          </a:xfrm>
          <a:prstGeom prst="roundRect">
            <a:avLst>
              <a:gd name="adj" fmla="val 42799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1428" y="1569913"/>
            <a:ext cx="193923" cy="242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71092" y="1587326"/>
            <a:ext cx="701144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81–100 · Maîtrisée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402110" y="1923306"/>
            <a:ext cx="7149405" cy="9525"/>
          </a:xfrm>
          <a:prstGeom prst="roundRect">
            <a:avLst>
              <a:gd name="adj" fmla="val 50000"/>
            </a:avLst>
          </a:prstGeom>
          <a:solidFill>
            <a:srgbClr val="F2B42D"/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2001738"/>
            <a:ext cx="1619324" cy="483394"/>
          </a:xfrm>
          <a:prstGeom prst="roundRect">
            <a:avLst>
              <a:gd name="adj" fmla="val 42799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6241" y="2122215"/>
            <a:ext cx="193923" cy="242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0791" y="2139628"/>
            <a:ext cx="620174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61–80 · Réfléchie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11809" y="2475607"/>
            <a:ext cx="6339706" cy="9525"/>
          </a:xfrm>
          <a:prstGeom prst="roundRect">
            <a:avLst>
              <a:gd name="adj" fmla="val 50000"/>
            </a:avLst>
          </a:prstGeom>
          <a:solidFill>
            <a:srgbClr val="D7425E"/>
          </a:solidFill>
          <a:ln/>
        </p:spPr>
      </p:sp>
      <p:sp>
        <p:nvSpPr>
          <p:cNvPr id="12" name="Shape 10"/>
          <p:cNvSpPr/>
          <p:nvPr/>
        </p:nvSpPr>
        <p:spPr>
          <a:xfrm>
            <a:off x="523577" y="2554039"/>
            <a:ext cx="2429024" cy="483394"/>
          </a:xfrm>
          <a:prstGeom prst="roundRect">
            <a:avLst>
              <a:gd name="adj" fmla="val 42799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1128" y="2674516"/>
            <a:ext cx="193923" cy="242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90490" y="2691929"/>
            <a:ext cx="5392043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41–60 · Consciente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21509" y="3027908"/>
            <a:ext cx="5530007" cy="9525"/>
          </a:xfrm>
          <a:prstGeom prst="roundRect">
            <a:avLst>
              <a:gd name="adj" fmla="val 50000"/>
            </a:avLst>
          </a:prstGeom>
          <a:solidFill>
            <a:srgbClr val="DD785E"/>
          </a:solidFill>
          <a:ln/>
        </p:spPr>
      </p:sp>
      <p:sp>
        <p:nvSpPr>
          <p:cNvPr id="16" name="Shape 14"/>
          <p:cNvSpPr/>
          <p:nvPr/>
        </p:nvSpPr>
        <p:spPr>
          <a:xfrm>
            <a:off x="523577" y="3106341"/>
            <a:ext cx="3238723" cy="483394"/>
          </a:xfrm>
          <a:prstGeom prst="roundRect">
            <a:avLst>
              <a:gd name="adj" fmla="val 42799"/>
            </a:avLst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45940" y="3226817"/>
            <a:ext cx="193923" cy="242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00190" y="3244230"/>
            <a:ext cx="4582344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🟠</a:t>
            </a: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21–40 · Réactive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31208" y="3580209"/>
            <a:ext cx="4720307" cy="9525"/>
          </a:xfrm>
          <a:prstGeom prst="roundRect">
            <a:avLst>
              <a:gd name="adj" fmla="val 50000"/>
            </a:avLst>
          </a:prstGeom>
          <a:solidFill>
            <a:srgbClr val="48A8E2"/>
          </a:solidFill>
          <a:ln/>
        </p:spPr>
      </p:sp>
      <p:sp>
        <p:nvSpPr>
          <p:cNvPr id="20" name="Shape 18"/>
          <p:cNvSpPr/>
          <p:nvPr/>
        </p:nvSpPr>
        <p:spPr>
          <a:xfrm>
            <a:off x="523577" y="3658642"/>
            <a:ext cx="4048423" cy="483394"/>
          </a:xfrm>
          <a:prstGeom prst="roundRect">
            <a:avLst>
              <a:gd name="adj" fmla="val 42799"/>
            </a:avLst>
          </a:prstGeom>
          <a:solidFill>
            <a:srgbClr val="00002E"/>
          </a:solidFill>
          <a:ln w="14288">
            <a:solidFill>
              <a:srgbClr val="59AB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827" y="3779118"/>
            <a:ext cx="193923" cy="242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09889" y="3796531"/>
            <a:ext cx="3772644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0–20 · Automatique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3577" y="4285059"/>
            <a:ext cx="809684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L'extension (Chrome/Firefox) détecte les sites IA et affiche l'overlay. Le backend (Python/Flask) gère authentification, score et défis. Le dashboard (HTML/Tailwind/Chart.js) affiche statistiques et badges.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55689" y="433239"/>
            <a:ext cx="4667845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Gamification : défis &amp; badges</a:t>
            </a:r>
            <a:endParaRPr lang="en-US" sz="2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5689" y="951533"/>
            <a:ext cx="4667845" cy="74332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17689" y="1230288"/>
            <a:ext cx="185812" cy="18581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568043" y="1089645"/>
            <a:ext cx="391737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Réflexion 24h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2568043" y="1333351"/>
            <a:ext cx="39173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Réfléchir avant chaque utilisation · </a:t>
            </a: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15 pts</a:t>
            </a:r>
            <a:endParaRPr lang="en-US" sz="9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5689" y="1797397"/>
            <a:ext cx="4667845" cy="743322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17689" y="2076152"/>
            <a:ext cx="185812" cy="185812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568043" y="1935510"/>
            <a:ext cx="391737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Réduction 10%</a:t>
            </a:r>
            <a:endParaRPr lang="en-US" sz="1100" dirty="0"/>
          </a:p>
        </p:txBody>
      </p:sp>
      <p:sp>
        <p:nvSpPr>
          <p:cNvPr id="11" name="Text 4"/>
          <p:cNvSpPr/>
          <p:nvPr/>
        </p:nvSpPr>
        <p:spPr>
          <a:xfrm>
            <a:off x="2568043" y="2179216"/>
            <a:ext cx="39173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Réduire son temps IA de 10% · </a:t>
            </a: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20 pts</a:t>
            </a:r>
            <a:endParaRPr lang="en-US" sz="9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5689" y="2643262"/>
            <a:ext cx="4667845" cy="743322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17689" y="2922017"/>
            <a:ext cx="185812" cy="185812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2568043" y="2781374"/>
            <a:ext cx="391737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Semaine consciente</a:t>
            </a:r>
            <a:endParaRPr lang="en-US" sz="1100" dirty="0"/>
          </a:p>
        </p:txBody>
      </p:sp>
      <p:sp>
        <p:nvSpPr>
          <p:cNvPr id="15" name="Text 6"/>
          <p:cNvSpPr/>
          <p:nvPr/>
        </p:nvSpPr>
        <p:spPr>
          <a:xfrm>
            <a:off x="2568043" y="3025080"/>
            <a:ext cx="39173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 jours d'usage conscient · </a:t>
            </a: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50 pts</a:t>
            </a:r>
            <a:endParaRPr lang="en-US" sz="9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955689" y="3489127"/>
            <a:ext cx="4667845" cy="743322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117689" y="3767882"/>
            <a:ext cx="185812" cy="185812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2568043" y="3627239"/>
            <a:ext cx="391737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Pause nocturne</a:t>
            </a:r>
            <a:endParaRPr lang="en-US" sz="1100" dirty="0"/>
          </a:p>
        </p:txBody>
      </p:sp>
      <p:sp>
        <p:nvSpPr>
          <p:cNvPr id="19" name="Text 8"/>
          <p:cNvSpPr/>
          <p:nvPr/>
        </p:nvSpPr>
        <p:spPr>
          <a:xfrm>
            <a:off x="2568043" y="3870945"/>
            <a:ext cx="39173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Éviter l'IA entre 22h et 7h · </a:t>
            </a: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30 pts</a:t>
            </a:r>
            <a:endParaRPr lang="en-US" sz="950" dirty="0"/>
          </a:p>
        </p:txBody>
      </p:sp>
      <p:sp>
        <p:nvSpPr>
          <p:cNvPr id="20" name="Text 9"/>
          <p:cNvSpPr/>
          <p:nvPr/>
        </p:nvSpPr>
        <p:spPr>
          <a:xfrm>
            <a:off x="1955689" y="4347865"/>
            <a:ext cx="466784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⭐</a:t>
            </a: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Premier pas · </a:t>
            </a: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🗓️</a:t>
            </a: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3 jours conscients · </a:t>
            </a: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🏆</a:t>
            </a: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Semaine maîtrisée · </a:t>
            </a: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🍃</a:t>
            </a: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Réduction 50% · </a:t>
            </a: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🧠</a:t>
            </a: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Utilisateur réfléchi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2037"/>
            <a:ext cx="8096845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Déploiement &amp; démonstration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23577" y="971401"/>
            <a:ext cx="3917305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Infrastructure 100 % gratuite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23577" y="1206773"/>
            <a:ext cx="3917305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Déploiement automatisé via GitHub · Variables d'environnement sécurisées · Compatible Aiven MySQL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07880" y="971401"/>
            <a:ext cx="3917305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Démonstration en direct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07880" y="1216447"/>
            <a:ext cx="2150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07880" y="1384920"/>
            <a:ext cx="3917305" cy="1428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8" name="Text 6"/>
          <p:cNvSpPr/>
          <p:nvPr/>
        </p:nvSpPr>
        <p:spPr>
          <a:xfrm>
            <a:off x="4707880" y="1467222"/>
            <a:ext cx="391730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Ouvrir la </a:t>
            </a: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popup de l'extension</a:t>
            </a: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et s'inscrire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07880" y="1772841"/>
            <a:ext cx="2150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7880" y="1941314"/>
            <a:ext cx="3917305" cy="14288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11" name="Text 9"/>
          <p:cNvSpPr/>
          <p:nvPr/>
        </p:nvSpPr>
        <p:spPr>
          <a:xfrm>
            <a:off x="4707880" y="2023616"/>
            <a:ext cx="391730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Visiter un </a:t>
            </a: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site IA</a:t>
            </a: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(ChatGPT, Claude…)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07880" y="2329235"/>
            <a:ext cx="2150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07880" y="2497708"/>
            <a:ext cx="3917305" cy="14288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14" name="Text 12"/>
          <p:cNvSpPr/>
          <p:nvPr/>
        </p:nvSpPr>
        <p:spPr>
          <a:xfrm>
            <a:off x="4707880" y="2580010"/>
            <a:ext cx="391730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L'</a:t>
            </a: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overlay</a:t>
            </a: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apparaît → répondre aux questions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07880" y="2885629"/>
            <a:ext cx="2150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7880" y="3054102"/>
            <a:ext cx="3917305" cy="14288"/>
          </a:xfrm>
          <a:prstGeom prst="rect">
            <a:avLst/>
          </a:prstGeom>
          <a:solidFill>
            <a:srgbClr val="48A8E2"/>
          </a:solidFill>
          <a:ln/>
        </p:spPr>
      </p:sp>
      <p:sp>
        <p:nvSpPr>
          <p:cNvPr id="17" name="Text 15"/>
          <p:cNvSpPr/>
          <p:nvPr/>
        </p:nvSpPr>
        <p:spPr>
          <a:xfrm>
            <a:off x="4707880" y="3136404"/>
            <a:ext cx="391730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Ouvrir le </a:t>
            </a: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dashboard</a:t>
            </a: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→ voir les statistiques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07880" y="3442022"/>
            <a:ext cx="2150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7880" y="3610496"/>
            <a:ext cx="3917305" cy="14288"/>
          </a:xfrm>
          <a:prstGeom prst="rect">
            <a:avLst/>
          </a:prstGeom>
          <a:solidFill>
            <a:srgbClr val="59ABA9"/>
          </a:solidFill>
          <a:ln/>
        </p:spPr>
      </p:sp>
      <p:sp>
        <p:nvSpPr>
          <p:cNvPr id="20" name="Text 18"/>
          <p:cNvSpPr/>
          <p:nvPr/>
        </p:nvSpPr>
        <p:spPr>
          <a:xfrm>
            <a:off x="4707880" y="3692798"/>
            <a:ext cx="391730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Vérifier le </a:t>
            </a: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score</a:t>
            </a: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et les </a:t>
            </a: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conseils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23577" y="4095006"/>
            <a:ext cx="1966243" cy="586383"/>
          </a:xfrm>
          <a:prstGeom prst="roundRect">
            <a:avLst>
              <a:gd name="adj" fmla="val 27508"/>
            </a:avLst>
          </a:prstGeom>
          <a:solidFill>
            <a:srgbClr val="00002E"/>
          </a:solidFill>
          <a:ln w="9525">
            <a:solidFill>
              <a:srgbClr val="F2B4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631" y="4212059"/>
            <a:ext cx="1732136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Railway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631" y="4416549"/>
            <a:ext cx="1732136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Backend API Python/Flask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7062" y="4095006"/>
            <a:ext cx="1966317" cy="586383"/>
          </a:xfrm>
          <a:prstGeom prst="roundRect">
            <a:avLst>
              <a:gd name="adj" fmla="val 27508"/>
            </a:avLst>
          </a:prstGeom>
          <a:solidFill>
            <a:srgbClr val="00002E"/>
          </a:solidFill>
          <a:ln w="9525">
            <a:solidFill>
              <a:srgbClr val="D742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4115" y="4212059"/>
            <a:ext cx="1732211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SQLite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84115" y="4416549"/>
            <a:ext cx="1732211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Base de données locale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10621" y="4095006"/>
            <a:ext cx="1966243" cy="586383"/>
          </a:xfrm>
          <a:prstGeom prst="roundRect">
            <a:avLst>
              <a:gd name="adj" fmla="val 27508"/>
            </a:avLst>
          </a:prstGeom>
          <a:solidFill>
            <a:srgbClr val="00002E"/>
          </a:solidFill>
          <a:ln w="9525">
            <a:solidFill>
              <a:srgbClr val="DD78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674" y="4212059"/>
            <a:ext cx="1732136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Extension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27674" y="4416549"/>
            <a:ext cx="1732136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Chrome / Firefox (Manifest V3)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54105" y="4095006"/>
            <a:ext cx="1966317" cy="586383"/>
          </a:xfrm>
          <a:prstGeom prst="roundRect">
            <a:avLst>
              <a:gd name="adj" fmla="val 27508"/>
            </a:avLst>
          </a:prstGeom>
          <a:solidFill>
            <a:srgbClr val="00002E"/>
          </a:solidFill>
          <a:ln w="9525">
            <a:solidFill>
              <a:srgbClr val="48A8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71159" y="4212059"/>
            <a:ext cx="1732211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ngrok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71159" y="4416549"/>
            <a:ext cx="1732211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Tunnel HTTPS pour le dev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3243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Ce que Luciole apporte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271662"/>
            <a:ext cx="2599209" cy="1714574"/>
          </a:xfrm>
          <a:prstGeom prst="roundRect">
            <a:avLst>
              <a:gd name="adj" fmla="val 13089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7437" y="1435522"/>
            <a:ext cx="448791" cy="448791"/>
          </a:xfrm>
          <a:prstGeom prst="ellipse">
            <a:avLst/>
          </a:prstGeom>
          <a:solidFill>
            <a:srgbClr val="F2B42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816" y="1558900"/>
            <a:ext cx="201960" cy="20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7437" y="2033885"/>
            <a:ext cx="227148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Prise de conscience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7437" y="2343596"/>
            <a:ext cx="227148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Chaque utilisation devient réfléchie et intentionnelle.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72358" y="1271662"/>
            <a:ext cx="2599209" cy="1714574"/>
          </a:xfrm>
          <a:prstGeom prst="roundRect">
            <a:avLst>
              <a:gd name="adj" fmla="val 13089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36218" y="1435522"/>
            <a:ext cx="448791" cy="448791"/>
          </a:xfrm>
          <a:prstGeom prst="ellipse">
            <a:avLst/>
          </a:prstGeom>
          <a:solidFill>
            <a:srgbClr val="D7425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9597" y="1558900"/>
            <a:ext cx="201960" cy="201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36218" y="2033885"/>
            <a:ext cx="227148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Données concrètes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36218" y="2343596"/>
            <a:ext cx="227148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 statistiques précises sur vos habitudes d'IA.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21139" y="1271662"/>
            <a:ext cx="2599283" cy="1714574"/>
          </a:xfrm>
          <a:prstGeom prst="roundRect">
            <a:avLst>
              <a:gd name="adj" fmla="val 13089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84999" y="1435522"/>
            <a:ext cx="448791" cy="448791"/>
          </a:xfrm>
          <a:prstGeom prst="ellipse">
            <a:avLst/>
          </a:prstGeom>
          <a:solidFill>
            <a:srgbClr val="DD785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8378" y="1558900"/>
            <a:ext cx="201960" cy="201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4999" y="2033885"/>
            <a:ext cx="22715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Progression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84999" y="2343596"/>
            <a:ext cx="22715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Score de réflexion et gamification pour s'améliorer.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23577" y="3135809"/>
            <a:ext cx="3973637" cy="1475184"/>
          </a:xfrm>
          <a:prstGeom prst="roundRect">
            <a:avLst>
              <a:gd name="adj" fmla="val 15213"/>
            </a:avLst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7437" y="3299668"/>
            <a:ext cx="448791" cy="448791"/>
          </a:xfrm>
          <a:prstGeom prst="ellipse">
            <a:avLst/>
          </a:prstGeom>
          <a:solidFill>
            <a:srgbClr val="48A8E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0816" y="3423047"/>
            <a:ext cx="201960" cy="2019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7437" y="3898032"/>
            <a:ext cx="364591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Conseils personnalisés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87437" y="4207743"/>
            <a:ext cx="364591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 recommandations adaptées à votre profil.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46786" y="3135809"/>
            <a:ext cx="3973637" cy="1475184"/>
          </a:xfrm>
          <a:prstGeom prst="roundRect">
            <a:avLst>
              <a:gd name="adj" fmla="val 15213"/>
            </a:avLst>
          </a:prstGeom>
          <a:solidFill>
            <a:srgbClr val="00002E"/>
          </a:solidFill>
          <a:ln w="14288">
            <a:solidFill>
              <a:srgbClr val="59ABA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10646" y="3299668"/>
            <a:ext cx="448791" cy="448791"/>
          </a:xfrm>
          <a:prstGeom prst="ellipse">
            <a:avLst/>
          </a:prstGeom>
          <a:solidFill>
            <a:srgbClr val="59ABA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34024" y="3423047"/>
            <a:ext cx="201960" cy="2019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10646" y="3898032"/>
            <a:ext cx="364591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Gratuit &amp; open-source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810646" y="4207743"/>
            <a:ext cx="364591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Accessible à tous, sans barrière financière.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27596"/>
            <a:ext cx="80968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Pistes d'amélioration &amp; remerciements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23577" y="1304776"/>
            <a:ext cx="3871615" cy="21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🔮</a:t>
            </a: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Ce qui vient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27" y="1661443"/>
            <a:ext cx="1867123" cy="85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6562" y="1680493"/>
            <a:ext cx="1665089" cy="21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IA intégrée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06562" y="2038648"/>
            <a:ext cx="1665089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Analyse automatique des motifs d'utilisation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28069" y="1661443"/>
            <a:ext cx="1867123" cy="8528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30103" y="1680493"/>
            <a:ext cx="1665089" cy="430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Application mobile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730103" y="2251695"/>
            <a:ext cx="1665089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Version Android/iOS native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4527" y="2756967"/>
            <a:ext cx="1867123" cy="8528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6562" y="2776017"/>
            <a:ext cx="1665089" cy="21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📤</a:t>
            </a: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Export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06562" y="3134171"/>
            <a:ext cx="1665089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CSV/PDF des données personnelles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28069" y="2756967"/>
            <a:ext cx="1867123" cy="8528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30103" y="2776017"/>
            <a:ext cx="1665089" cy="21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Intégrations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2730103" y="3134171"/>
            <a:ext cx="1665089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Notion, Slack, Teams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4527" y="3852490"/>
            <a:ext cx="3890665" cy="62455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6562" y="3871540"/>
            <a:ext cx="3688631" cy="21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Multi-langues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706562" y="4229695"/>
            <a:ext cx="3688631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 de plusieurs langues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649167" y="1164431"/>
            <a:ext cx="4080421" cy="3451473"/>
          </a:xfrm>
          <a:prstGeom prst="roundRect">
            <a:avLst>
              <a:gd name="adj" fmla="val 10078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4794052" y="1304776"/>
            <a:ext cx="3790652" cy="21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✨</a:t>
            </a:r>
            <a:r>
              <a:rPr lang="en-US" sz="13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Merci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794052" y="1662931"/>
            <a:ext cx="3790652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Luciole </a:t>
            </a:r>
            <a:r>
              <a:rPr lang="en-US" sz="1100" dirty="0" err="1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</a:t>
            </a: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un </a:t>
            </a:r>
            <a:r>
              <a:rPr lang="en-US" sz="1100" dirty="0" err="1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projet</a:t>
            </a: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produit</a:t>
            </a: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10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 cray-active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794052" y="2313608"/>
            <a:ext cx="3790652" cy="19050"/>
          </a:xfrm>
          <a:prstGeom prst="roundRect">
            <a:avLst>
              <a:gd name="adj" fmla="val 50000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4794052" y="2526729"/>
            <a:ext cx="3790652" cy="811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Démo en ligne :</a:t>
            </a:r>
            <a:endParaRPr lang="en-US" sz="1100" dirty="0"/>
          </a:p>
          <a:p>
            <a:pPr marL="0" indent="0" algn="l">
              <a:lnSpc>
                <a:spcPct val="131000"/>
              </a:lnSpc>
              <a:spcAft>
                <a:spcPts val="950"/>
              </a:spcAft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E5A7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https://luciole-backend-production-5ffd.up.railway.app</a:t>
            </a:r>
            <a:endParaRPr lang="en-US" sz="11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Extension :</a:t>
            </a: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Chargement temporaire dans Chrome/Firefox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636</Words>
  <Application>Microsoft Office PowerPoint</Application>
  <PresentationFormat>Affichage à l'écran (16:9)</PresentationFormat>
  <Paragraphs>111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8" baseType="lpstr">
      <vt:lpstr>Calibri</vt:lpstr>
      <vt:lpstr>Consolas</vt:lpstr>
      <vt:lpstr>PT Sans Bold</vt:lpstr>
      <vt:lpstr>PT Sans</vt:lpstr>
      <vt:lpstr>Twemoji Mozilla</vt:lpstr>
      <vt:lpstr>Arial</vt:lpstr>
      <vt:lpstr>Nunito SemiBold</vt:lpstr>
      <vt:lpstr>Nunito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lastModifiedBy>HOLY</cp:lastModifiedBy>
  <cp:revision>5</cp:revision>
  <dcterms:created xsi:type="dcterms:W3CDTF">2026-08-03T18:12:07Z</dcterms:created>
  <dcterms:modified xsi:type="dcterms:W3CDTF">2026-08-03T19:18:43Z</dcterms:modified>
</cp:coreProperties>
</file>